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20040" cy="51435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-914400"/>
            <a:ext cx="3200400" cy="3200400"/>
          </a:xfrm>
          <a:prstGeom prst="ellipse">
            <a:avLst/>
          </a:prstGeom>
          <a:solidFill>
            <a:srgbClr val="3A7BD5">
              <a:alpha val="20000"/>
            </a:srgbClr>
          </a:solidFill>
          <a:ln w="12700">
            <a:solidFill>
              <a:srgbClr val="3A7BD5">
                <a:alpha val="2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680960" y="-365760"/>
            <a:ext cx="2011680" cy="2011680"/>
          </a:xfrm>
          <a:prstGeom prst="ellipse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1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94360" y="5029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ABD6"/>
                </a:solidFill>
              </a:rPr>
              <a:t>READING GROUP — 45 MINUTES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94360" y="914400"/>
            <a:ext cx="777240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AI Agents for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</a:rPr>
              <a:t>Economic Research</a:t>
            </a:r>
            <a:endParaRPr lang="en-US" sz="4400" dirty="0"/>
          </a:p>
        </p:txBody>
      </p:sp>
      <p:sp>
        <p:nvSpPr>
          <p:cNvPr id="7" name="Text 5"/>
          <p:cNvSpPr/>
          <p:nvPr/>
        </p:nvSpPr>
        <p:spPr>
          <a:xfrm>
            <a:off x="594360" y="30175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Mid-2025 Update · Anton Korinek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CADCFC"/>
                </a:solidFill>
              </a:rPr>
              <a:t>Journal of Economic Literature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3A7BD5">
              <a:alpha val="30000"/>
            </a:srgbClr>
          </a:solidFill>
          <a:ln w="12700">
            <a:solidFill>
              <a:srgbClr val="3A7BD5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477316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i="1" dirty="0">
                <a:solidFill>
                  <a:srgbClr val="D6E4F7"/>
                </a:solidFill>
              </a:rPr>
              <a:t>From chatbots → reasoning models → autonomous agents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TODAY'S SESSION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8595360" cy="594360"/>
          </a:xfrm>
          <a:prstGeom prst="rect">
            <a:avLst/>
          </a:prstGeom>
          <a:solidFill>
            <a:srgbClr val="D6E4F7">
              <a:alpha val="70000"/>
            </a:srgbClr>
          </a:solidFill>
          <a:ln w="12700">
            <a:solidFill>
              <a:srgbClr val="D6E4F7">
                <a:alpha val="7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896112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93268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1051560" y="89611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Three paradigms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51560" y="115214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Traditional LLMs → Reasoning models → Agentic chatbots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7772400" y="93268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~8 min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554480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591056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" y="1554480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AI agent architecture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1810512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How agents work; Deep Research systems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0" y="1591056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~10 min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157984"/>
            <a:ext cx="8595360" cy="594360"/>
          </a:xfrm>
          <a:prstGeom prst="rect">
            <a:avLst/>
          </a:prstGeom>
          <a:solidFill>
            <a:srgbClr val="D6E4F7">
              <a:alpha val="70000"/>
            </a:srgbClr>
          </a:solidFill>
          <a:ln w="12700">
            <a:solidFill>
              <a:srgbClr val="D6E4F7">
                <a:alpha val="7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65760" y="2212848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249424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" y="2212848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Coding agents &amp; vibe coding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1051560" y="2468880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Claude Code, democratisation of technical work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7772400" y="2249424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~7 min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871216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5760" y="2907792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051560" y="2871216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Building your own agent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051560" y="3127248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LangGraph examples from the paper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772400" y="2907792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~8 min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274320" y="3474720"/>
            <a:ext cx="8595360" cy="594360"/>
          </a:xfrm>
          <a:prstGeom prst="rect">
            <a:avLst/>
          </a:prstGeom>
          <a:solidFill>
            <a:srgbClr val="D6E4F7">
              <a:alpha val="70000"/>
            </a:srgbClr>
          </a:solidFill>
          <a:ln w="12700">
            <a:solidFill>
              <a:srgbClr val="D6E4F7">
                <a:alpha val="7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3529584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65760" y="3566160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05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051560" y="3529584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Limitations &amp; implications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1051560" y="3785616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Hallucinations, costs, economic consequences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7772400" y="3566160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~5 min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365760" y="4187952"/>
            <a:ext cx="475488" cy="47548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224528"/>
            <a:ext cx="47548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06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051560" y="4187952"/>
            <a:ext cx="4663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2850"/>
                </a:solidFill>
              </a:rPr>
              <a:t>Discussion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1051560" y="4443984"/>
            <a:ext cx="5943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Questions to explore together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7772400" y="4224528"/>
            <a:ext cx="1005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~7 min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Three Paradigms of AI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182112" y="2834640"/>
            <a:ext cx="493776" cy="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25312" y="2834640"/>
            <a:ext cx="493776" cy="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20040" y="96012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320040" y="960120"/>
            <a:ext cx="2743200" cy="86868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💬</a:t>
            </a:r>
            <a:endParaRPr lang="en-US" sz="2600" dirty="0"/>
          </a:p>
        </p:txBody>
      </p:sp>
      <p:sp>
        <p:nvSpPr>
          <p:cNvPr id="9" name="Text 7"/>
          <p:cNvSpPr/>
          <p:nvPr/>
        </p:nvSpPr>
        <p:spPr>
          <a:xfrm>
            <a:off x="41148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System 1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29768" y="1920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50"/>
                </a:solidFill>
              </a:rPr>
              <a:t>Traditional LLMs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29768" y="23042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Launched: Nov 2022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84632" y="2633472"/>
            <a:ext cx="24140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Fast, pattern-based text generation. Excellent for language tasks; no live web or code execution.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00400" y="96012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1E7D5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00400" y="960120"/>
            <a:ext cx="2743200" cy="868680"/>
          </a:xfrm>
          <a:prstGeom prst="rect">
            <a:avLst/>
          </a:prstGeom>
          <a:solidFill>
            <a:srgbClr val="1E7D5A"/>
          </a:solidFill>
          <a:ln w="12700">
            <a:solidFill>
              <a:srgbClr val="1E7D5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🧠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29184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System 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310128" y="1920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50"/>
                </a:solidFill>
              </a:rPr>
              <a:t>Reasoning Models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10128" y="23042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Launched: Sep 2024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364992" y="2633472"/>
            <a:ext cx="24140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Slow, deliberate problem-solving via chain-of-thought. Excels at maths, proofs, complex code.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080760" y="960120"/>
            <a:ext cx="2743200" cy="3931920"/>
          </a:xfrm>
          <a:prstGeom prst="rect">
            <a:avLst/>
          </a:prstGeom>
          <a:solidFill>
            <a:srgbClr val="FFFFFF"/>
          </a:solidFill>
          <a:ln w="254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080760" y="960120"/>
            <a:ext cx="2743200" cy="868680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080760" y="100584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🤖</a:t>
            </a:r>
            <a:endParaRPr lang="en-US" sz="2600" dirty="0"/>
          </a:p>
        </p:txBody>
      </p:sp>
      <p:sp>
        <p:nvSpPr>
          <p:cNvPr id="23" name="Text 21"/>
          <p:cNvSpPr/>
          <p:nvPr/>
        </p:nvSpPr>
        <p:spPr>
          <a:xfrm>
            <a:off x="6172200" y="155448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spc="200" kern="0" dirty="0">
                <a:solidFill>
                  <a:srgbClr val="FFFFFF"/>
                </a:solidFill>
              </a:rPr>
              <a:t>System 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190488" y="1920240"/>
            <a:ext cx="252374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A2850"/>
                </a:solidFill>
              </a:rPr>
              <a:t>Agentic Chatbots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190488" y="2304288"/>
            <a:ext cx="2523744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Launched: Dec 2024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45352" y="2633472"/>
            <a:ext cx="2414016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Plans, uses tools, browses the web, executes code. Conducts end-to-end research autonomously.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320040" y="4846320"/>
            <a:ext cx="8503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Kahneman (2011) — Thinking, Fast and Slow provides the analogy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Where Models Stand Today (Aug 2025)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914400"/>
            <a:ext cx="5029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50"/>
                </a:solidFill>
              </a:rPr>
              <a:t>GPQA Benchmark (graduate-level Q&amp;A)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1261872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1261872"/>
            <a:ext cx="3923873" cy="347472"/>
          </a:xfrm>
          <a:prstGeom prst="rect">
            <a:avLst/>
          </a:prstGeom>
          <a:solidFill>
            <a:srgbClr val="10A37F"/>
          </a:solidFill>
          <a:ln w="12700">
            <a:solidFill>
              <a:srgbClr val="10A37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1325880"/>
            <a:ext cx="383243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GPT-5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434840" y="132588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0A37F"/>
                </a:solidFill>
              </a:rPr>
              <a:t>89.4%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365760" y="1828800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1828800"/>
            <a:ext cx="3901928" cy="347472"/>
          </a:xfrm>
          <a:prstGeom prst="rect">
            <a:avLst/>
          </a:prstGeom>
          <a:solidFill>
            <a:srgbClr val="1DA1F2"/>
          </a:solidFill>
          <a:ln w="12700">
            <a:solidFill>
              <a:srgbClr val="1DA1F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1892808"/>
            <a:ext cx="3810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Grok-4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434840" y="189280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A1F2"/>
                </a:solidFill>
              </a:rPr>
              <a:t>88.9%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65760" y="2395728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395728"/>
            <a:ext cx="3686861" cy="347472"/>
          </a:xfrm>
          <a:prstGeom prst="rect">
            <a:avLst/>
          </a:prstGeom>
          <a:solidFill>
            <a:srgbClr val="4285F4"/>
          </a:solidFill>
          <a:ln w="12700">
            <a:solidFill>
              <a:srgbClr val="4285F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2459736"/>
            <a:ext cx="359542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Gemini 2.5 Pro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434840" y="2459736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4285F4"/>
                </a:solidFill>
              </a:rPr>
              <a:t>84%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65760" y="2962656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65760" y="2962656"/>
            <a:ext cx="3656137" cy="347472"/>
          </a:xfrm>
          <a:prstGeom prst="rect">
            <a:avLst/>
          </a:prstGeom>
          <a:solidFill>
            <a:srgbClr val="CC785C"/>
          </a:solidFill>
          <a:ln w="12700">
            <a:solidFill>
              <a:srgbClr val="CC785C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3026664"/>
            <a:ext cx="3564697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Claude Opus 4.1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4434840" y="3026664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CC785C"/>
                </a:solidFill>
              </a:rPr>
              <a:t>83.3%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3529584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365760" y="3529584"/>
            <a:ext cx="3138221" cy="347472"/>
          </a:xfrm>
          <a:prstGeom prst="rect">
            <a:avLst/>
          </a:prstGeom>
          <a:solidFill>
            <a:srgbClr val="E84142"/>
          </a:solidFill>
          <a:ln w="12700">
            <a:solidFill>
              <a:srgbClr val="E8414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11480" y="3593592"/>
            <a:ext cx="30467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DeepSeek-R1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4434840" y="3593592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E84142"/>
                </a:solidFill>
              </a:rPr>
              <a:t>71.5%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65760" y="4096512"/>
            <a:ext cx="4389120" cy="347472"/>
          </a:xfrm>
          <a:prstGeom prst="rect">
            <a:avLst/>
          </a:prstGeom>
          <a:solidFill>
            <a:srgbClr val="E8EEF7"/>
          </a:solidFill>
          <a:ln w="12700">
            <a:solidFill>
              <a:srgbClr val="E8EEF7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4096512"/>
            <a:ext cx="2852928" cy="347472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11480" y="4160520"/>
            <a:ext cx="276148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Human PhD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434840" y="4160520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64748B"/>
                </a:solidFill>
              </a:rPr>
              <a:t>65%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4663440" y="868680"/>
            <a:ext cx="0" cy="416052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800600" y="914400"/>
            <a:ext cx="4069080" cy="3291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4800600" y="914400"/>
            <a:ext cx="73152" cy="32918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83480" y="987552"/>
            <a:ext cx="3566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50"/>
                </a:solidFill>
              </a:rPr>
              <a:t>Key Takeaways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1353312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Top models now exceed PhD-level performance on many benchmarks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965192" y="1865376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Human PhD baseline on GPQA: ~65% — now surpassed by all top labs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965192" y="2377440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Gap between frontier &amp; open-source is narrowing fast (DeepSeek, Qwen, Kimi-K2)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965192" y="2889504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Capabilities have become near-commoditised at standard tier; differentiation is at the reasoning/agent layer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965192" y="3401568"/>
            <a:ext cx="3657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A7BD5"/>
                </a:solidFill>
              </a:rPr>
              <a:t>▸ </a:t>
            </a:r>
            <a:pPr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Premium subscriptions now reach $200–$300/month — access inequality is a real concern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65760" y="484632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Source: LMSYS Arena &amp; Table 3 in Korinek (2025)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How AI Agents 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77240" y="1005840"/>
            <a:ext cx="2011680" cy="45720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777240" y="1042416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User Prompt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1783080" y="1463040"/>
            <a:ext cx="0" cy="32004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20040" y="1783080"/>
            <a:ext cx="2926080" cy="45720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20040" y="1810512"/>
            <a:ext cx="29260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Orchestrator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783080" y="2240280"/>
            <a:ext cx="0" cy="32004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20040" y="2560320"/>
            <a:ext cx="2926080" cy="59436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20040" y="2633472"/>
            <a:ext cx="29260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Reasoning Engine (LLM)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783080" y="3154680"/>
            <a:ext cx="0" cy="27432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0040" y="3429000"/>
            <a:ext cx="658368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20040" y="34564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850"/>
                </a:solidFill>
              </a:rPr>
              <a:t>🔍 Search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1051560" y="3429000"/>
            <a:ext cx="658368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1051560" y="34564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850"/>
                </a:solidFill>
              </a:rPr>
              <a:t>💻 Code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1783080" y="3429000"/>
            <a:ext cx="658368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1783080" y="34564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850"/>
                </a:solidFill>
              </a:rPr>
              <a:t>🗄️ Database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514600" y="3429000"/>
            <a:ext cx="658368" cy="502920"/>
          </a:xfrm>
          <a:prstGeom prst="rect">
            <a:avLst/>
          </a:prstGeom>
          <a:solidFill>
            <a:srgbClr val="D6E4F7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2514600" y="3456432"/>
            <a:ext cx="658368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A2850"/>
                </a:solidFill>
              </a:rPr>
              <a:t>🌐 Browser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411480" y="4114800"/>
            <a:ext cx="2743200" cy="457200"/>
          </a:xfrm>
          <a:prstGeom prst="rect">
            <a:avLst/>
          </a:prstGeom>
          <a:solidFill>
            <a:srgbClr val="F0F4FF"/>
          </a:solidFill>
          <a:ln w="12700">
            <a:solidFill>
              <a:srgbClr val="9DB3D4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11480" y="4169664"/>
            <a:ext cx="2743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A2850"/>
                </a:solidFill>
              </a:rPr>
              <a:t>🗃️  Memory / Context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657600" y="914400"/>
            <a:ext cx="5212080" cy="402336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657600" y="914400"/>
            <a:ext cx="5212080" cy="457200"/>
          </a:xfrm>
          <a:prstGeom prst="rect">
            <a:avLst/>
          </a:prstGeom>
          <a:solidFill>
            <a:srgbClr val="2D3748"/>
          </a:solidFill>
          <a:ln w="12700">
            <a:solidFill>
              <a:srgbClr val="2D374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749040" y="950976"/>
            <a:ext cx="50292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ReAct Loop — Example (Paper, Chat 3)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749040" y="1481328"/>
            <a:ext cx="749808" cy="23774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749040" y="1481328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THOUGHT</a:t>
            </a:r>
            <a:endParaRPr lang="en-US" sz="750" dirty="0"/>
          </a:p>
        </p:txBody>
      </p:sp>
      <p:sp>
        <p:nvSpPr>
          <p:cNvPr id="28" name="Text 26"/>
          <p:cNvSpPr/>
          <p:nvPr/>
        </p:nvSpPr>
        <p:spPr>
          <a:xfrm>
            <a:off x="4572000" y="1481328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I need unemployment &amp; inflation data from FRED — series UNRATE and FPCPITOTLZGUSA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749040" y="2139696"/>
            <a:ext cx="749808" cy="237744"/>
          </a:xfrm>
          <a:prstGeom prst="rect">
            <a:avLst/>
          </a:prstGeom>
          <a:solidFill>
            <a:srgbClr val="1E7D5A"/>
          </a:solidFill>
          <a:ln w="12700">
            <a:solidFill>
              <a:srgbClr val="1E7D5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749040" y="2139696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ACTION</a:t>
            </a:r>
            <a:endParaRPr lang="en-US" sz="750" dirty="0"/>
          </a:p>
        </p:txBody>
      </p:sp>
      <p:sp>
        <p:nvSpPr>
          <p:cNvPr id="31" name="Text 29"/>
          <p:cNvSpPr/>
          <p:nvPr/>
        </p:nvSpPr>
        <p:spPr>
          <a:xfrm>
            <a:off x="4572000" y="2139696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fred_data:get_series(["UNRATE", "FPCPITOTLZGUSA"], last 20 years)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749040" y="2798064"/>
            <a:ext cx="749808" cy="23774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749040" y="2798064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OBSERVE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572000" y="2798064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Data retrieved → 240 rows saved to economic_data.csv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749040" y="3456432"/>
            <a:ext cx="749808" cy="237744"/>
          </a:xfrm>
          <a:prstGeom prst="rect">
            <a:avLst/>
          </a:prstGeom>
          <a:solidFill>
            <a:srgbClr val="1E7D5A"/>
          </a:solidFill>
          <a:ln w="12700">
            <a:solidFill>
              <a:srgbClr val="1E7D5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749040" y="3456432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ACTION</a:t>
            </a:r>
            <a:endParaRPr lang="en-US" sz="750" dirty="0"/>
          </a:p>
        </p:txBody>
      </p:sp>
      <p:sp>
        <p:nvSpPr>
          <p:cNvPr id="37" name="Text 35"/>
          <p:cNvSpPr/>
          <p:nvPr/>
        </p:nvSpPr>
        <p:spPr>
          <a:xfrm>
            <a:off x="4572000" y="3456432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python:execute({ scatter plot → saves phillips_curve.png })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749040" y="4114800"/>
            <a:ext cx="749808" cy="237744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749040" y="4114800"/>
            <a:ext cx="7498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spc="100" kern="0" dirty="0">
                <a:solidFill>
                  <a:srgbClr val="FFFFFF"/>
                </a:solidFill>
              </a:rPr>
              <a:t>RESULT</a:t>
            </a:r>
            <a:endParaRPr lang="en-US" sz="750" dirty="0"/>
          </a:p>
        </p:txBody>
      </p:sp>
      <p:sp>
        <p:nvSpPr>
          <p:cNvPr id="40" name="Text 38"/>
          <p:cNvSpPr/>
          <p:nvPr/>
        </p:nvSpPr>
        <p:spPr>
          <a:xfrm>
            <a:off x="4572000" y="4114800"/>
            <a:ext cx="4114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Phillips curve displayed — traditional inverse relationship holds except post-2020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Deep Research Agents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8503920" cy="777240"/>
          </a:xfrm>
          <a:prstGeom prst="rect">
            <a:avLst/>
          </a:prstGeom>
          <a:solidFill>
            <a:srgbClr val="D6E4F7">
              <a:alpha val="80000"/>
            </a:srgbClr>
          </a:solidFill>
          <a:ln w="12700">
            <a:solidFill>
              <a:srgbClr val="3A7BD5">
                <a:alpha val="50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02920" y="987552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3A7BD5"/>
                </a:solidFill>
              </a:rPr>
              <a:t>What: </a:t>
            </a:r>
            <a:pPr indent="0" marL="0">
              <a:buNone/>
            </a:pPr>
            <a:r>
              <a:rPr lang="en-US" sz="1100" dirty="0">
                <a:solidFill>
                  <a:srgbClr val="1A2850"/>
                </a:solidFill>
              </a:rPr>
              <a:t>Multi-agent systems that decompose a research question, spawn parallel sub-agents to browse 100s of sources, and synthesise a cited report — in 5–30 minutes.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365760" y="1874520"/>
            <a:ext cx="1828800" cy="5943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365760" y="1911096"/>
            <a:ext cx="18288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Lead Research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Agent (GPT-4 class)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194560" y="2167128"/>
            <a:ext cx="365760" cy="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670048" y="1874520"/>
            <a:ext cx="1371600" cy="59436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670048" y="191109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Sub-agent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Literature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3355848" y="246888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15768" y="2743200"/>
            <a:ext cx="12801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9DB3D4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15768" y="27706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🔍 Search ×3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206240" y="1874520"/>
            <a:ext cx="1371600" cy="59436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206240" y="191109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Sub-agent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Data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4892040" y="246888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251960" y="2743200"/>
            <a:ext cx="12801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9DB3D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51960" y="27706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🔍 Search ×3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5742432" y="1874520"/>
            <a:ext cx="1371600" cy="59436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742432" y="191109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Sub-agent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Policy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6428232" y="246888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788152" y="2743200"/>
            <a:ext cx="12801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9DB3D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788152" y="27706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🔍 Search ×3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7278624" y="1874520"/>
            <a:ext cx="1371600" cy="594360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278624" y="1911096"/>
            <a:ext cx="1371600" cy="5212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Sub-agent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</a:rPr>
              <a:t>Synthesis</a:t>
            </a:r>
            <a:endParaRPr lang="en-US" sz="850" dirty="0"/>
          </a:p>
        </p:txBody>
      </p:sp>
      <p:sp>
        <p:nvSpPr>
          <p:cNvPr id="26" name="Shape 24"/>
          <p:cNvSpPr/>
          <p:nvPr/>
        </p:nvSpPr>
        <p:spPr>
          <a:xfrm>
            <a:off x="7964424" y="2468880"/>
            <a:ext cx="0" cy="274320"/>
          </a:xfrm>
          <a:prstGeom prst="line">
            <a:avLst/>
          </a:prstGeom>
          <a:noFill/>
          <a:ln w="12700">
            <a:solidFill>
              <a:srgbClr val="64748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324344" y="2743200"/>
            <a:ext cx="1280160" cy="365760"/>
          </a:xfrm>
          <a:prstGeom prst="rect">
            <a:avLst/>
          </a:prstGeom>
          <a:solidFill>
            <a:srgbClr val="F0F4FF"/>
          </a:solidFill>
          <a:ln w="12700">
            <a:solidFill>
              <a:srgbClr val="9DB3D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324344" y="2770632"/>
            <a:ext cx="12801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🔍 Search ×3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4572000" y="3108960"/>
            <a:ext cx="0" cy="320040"/>
          </a:xfrm>
          <a:prstGeom prst="line">
            <a:avLst/>
          </a:prstGeom>
          <a:noFill/>
          <a:ln w="25400">
            <a:solidFill>
              <a:srgbClr val="3A7BD5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200400" y="3429000"/>
            <a:ext cx="2743200" cy="50292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3200400" y="3502152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📄 Final Cited Report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65760" y="4224528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Leading Providers (Table 6)</a:t>
            </a:r>
            <a:endParaRPr lang="en-US" sz="11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4498848"/>
          <a:ext cx="8412480" cy="594360"/>
        </p:xfrm>
        <a:graphic>
          <a:graphicData uri="http://schemas.openxmlformats.org/drawingml/2006/table">
            <a:tbl>
              <a:tblPr/>
              <a:tblGrid>
                <a:gridCol w="2377440"/>
                <a:gridCol w="2103120"/>
                <a:gridCol w="2743200"/>
                <a:gridCol w="1188720"/>
              </a:tblGrid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Provider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Access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Distinctive feature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Time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Gemini Deep Research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Free tier available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Proposes research plan first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5–10 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OpenAI Deep Research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25–200 reports/month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Asks clarifying questions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5–30 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Perplexity Deep Research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Free + paid unlimited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Fastest; many sources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2–4 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11887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Claude Deep Research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Paid plans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Connects to user workspace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900" dirty="0">
                          <a:solidFill>
                            <a:srgbClr val="1A2850"/>
                          </a:solidFill>
                        </a:rPr>
                        <a:t>5–15 min</a:t>
                      </a:r>
                      <a:endParaRPr lang="en-US" sz="9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Coding Agents &amp; Vibe Coding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06240" cy="475488"/>
          </a:xfrm>
          <a:prstGeom prst="rect">
            <a:avLst/>
          </a:prstGeom>
          <a:solidFill>
            <a:srgbClr val="1E7D5A"/>
          </a:solidFill>
          <a:ln w="12700">
            <a:solidFill>
              <a:srgbClr val="1E7D5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What is Vibe Coding?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481328"/>
            <a:ext cx="3977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850"/>
                </a:solidFill>
              </a:rPr>
              <a:t>Creating software entirely through natural language prompts — no code written by hand.
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2084832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5A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Claude Code prompts a full OLS regression tool in &lt; 2 minutes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2560320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5A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Bugs fixed iteratively with plain-English follow-ups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035808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5A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Produces well-documented, professional-quality code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3511296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5A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No programming experience required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57200" y="3986784"/>
            <a:ext cx="39319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E7D5A"/>
                </a:solidFill>
              </a:rPr>
              <a:t>✓  </a:t>
            </a:r>
            <a:pPr indent="0" marL="0">
              <a:buNone/>
            </a:pPr>
            <a:r>
              <a:rPr lang="en-US" sz="1050" dirty="0">
                <a:solidFill>
                  <a:srgbClr val="1A2850"/>
                </a:solidFill>
              </a:rPr>
              <a:t>Enables non-technical economists to build data pipelines, estimators, dashboards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663440" y="914400"/>
            <a:ext cx="4206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0" y="95097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Major Coding Agents (2025)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73168" y="1508760"/>
            <a:ext cx="4005072" cy="960120"/>
          </a:xfrm>
          <a:prstGeom prst="rect">
            <a:avLst/>
          </a:prstGeom>
          <a:solidFill>
            <a:srgbClr val="F8F9FE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864608" y="155448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50"/>
                </a:solidFill>
              </a:rPr>
              <a:t>Claude Code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864608" y="181965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Anthropic · Feb 2025 · Claude 4/4.1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864608" y="202996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State-of-the-art; used throughout this paper. CLI interface. SWE-Bench: 72.7%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73168" y="2606040"/>
            <a:ext cx="4005072" cy="960120"/>
          </a:xfrm>
          <a:prstGeom prst="rect">
            <a:avLst/>
          </a:prstGeom>
          <a:solidFill>
            <a:srgbClr val="F8F9FE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64608" y="265176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50"/>
                </a:solidFill>
              </a:rPr>
              <a:t>Codex CLI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4864608" y="291693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OpenAI · Apr 2025 · GPT-5 / open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64608" y="312724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Open-source; supports models from multiple providers. Pay-per-use.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773168" y="3703320"/>
            <a:ext cx="4005072" cy="960120"/>
          </a:xfrm>
          <a:prstGeom prst="rect">
            <a:avLst/>
          </a:prstGeom>
          <a:solidFill>
            <a:srgbClr val="F8F9FE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3749040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2850"/>
                </a:solidFill>
              </a:rPr>
              <a:t>Gemini CLI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4864608" y="4014216"/>
            <a:ext cx="38221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Google · Jun 2025 · Gemini 2.5 Pro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864608" y="4224528"/>
            <a:ext cx="382219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Open-source; generous free tier (60 req/min). Best PDF &amp; image support.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Caveat: all generate syntactically correct but sometimes logically flawed code — domain oversight essential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Building Your Own Agent (Section 4)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20040" y="914400"/>
            <a:ext cx="4206240" cy="475488"/>
          </a:xfrm>
          <a:prstGeom prst="rect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11480" y="95097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Simple FRED Agent (econdata.py)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508760"/>
            <a:ext cx="237744" cy="237744"/>
          </a:xfrm>
          <a:prstGeom prst="ellipse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517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7724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9E"/>
                </a:solidFill>
              </a:rPr>
              <a:t>Think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LLM selects the right FRED series code for the user's question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" y="2130552"/>
            <a:ext cx="237744" cy="237744"/>
          </a:xfrm>
          <a:prstGeom prst="ellipse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777240" y="2130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9E"/>
                </a:solidFill>
              </a:rPr>
              <a:t>Act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777240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Fetches data from the FRED API for last 2 years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57200" y="2752344"/>
            <a:ext cx="237744" cy="237744"/>
          </a:xfrm>
          <a:prstGeom prst="ellipse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777240" y="2752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9E"/>
                </a:solidFill>
              </a:rPr>
              <a:t>Observe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77240" y="2953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Extracts current value, date, units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57200" y="3374136"/>
            <a:ext cx="237744" cy="237744"/>
          </a:xfrm>
          <a:prstGeom prst="ellipse">
            <a:avLst/>
          </a:prstGeom>
          <a:solidFill>
            <a:srgbClr val="2C5F9E"/>
          </a:solidFill>
          <a:ln w="12700">
            <a:solidFill>
              <a:srgbClr val="2C5F9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33832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777240" y="3374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2C5F9E"/>
                </a:solidFill>
              </a:rPr>
              <a:t>Respond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777240" y="3575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LLM drafts a plain-English answer citing the data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1480" y="4480560"/>
            <a:ext cx="40233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7200" y="4507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2C5F9E"/>
                </a:solidFill>
              </a:rPr>
              <a:t>~130 lines · fully vibe-coded · 2 LLM calls per question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4663440" y="914400"/>
            <a:ext cx="4206240" cy="3977640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663440" y="914400"/>
            <a:ext cx="4206240" cy="475488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0" y="950976"/>
            <a:ext cx="4023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LangGraph Deep Research Agent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4800600" y="1508760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800600" y="1517904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1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5120640" y="1508760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Lead researcher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120640" y="1709928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Develops strategy; decomposes into 5+ subtasks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00600" y="2130552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00600" y="2139696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2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5120640" y="2130552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spawn_subtasks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120640" y="2331720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Creates search queries per research direction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00600" y="2752344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00600" y="2761488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3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5120640" y="2752344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search_agent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120640" y="2953512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Parallel Tavily searches; loops until all subtasks done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4800600" y="3374136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800600" y="3383280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4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5120640" y="3374136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analysis_agent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5120640" y="3575304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Analyses results per direction in parallel (ThreadPoolExecutor)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800600" y="3995928"/>
            <a:ext cx="237744" cy="237744"/>
          </a:xfrm>
          <a:prstGeom prst="ellipse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00600" y="4005072"/>
            <a:ext cx="237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</a:rPr>
              <a:t>5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5120640" y="3995928"/>
            <a:ext cx="3566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C3AED"/>
                </a:solidFill>
              </a:rPr>
              <a:t>synthesis_agent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5120640" y="4197096"/>
            <a:ext cx="3566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Integrates into a full cited report (GPT-4 class)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4754880" y="4480560"/>
            <a:ext cx="4023360" cy="292608"/>
          </a:xfrm>
          <a:prstGeom prst="rect">
            <a:avLst/>
          </a:prstGeom>
          <a:solidFill>
            <a:srgbClr val="F0F4FF"/>
          </a:solidFill>
          <a:ln w="12700">
            <a:solidFill>
              <a:srgbClr val="D6E4F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4800600" y="4507992"/>
            <a:ext cx="3931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7C3AED"/>
                </a:solidFill>
              </a:rPr>
              <a:t>~370 lines · tiered models (GPT-4.1 + mini) · ~$0.01 per report</a:t>
            </a:r>
            <a:endParaRPr lang="en-US" sz="850" dirty="0"/>
          </a:p>
        </p:txBody>
      </p:sp>
      <p:sp>
        <p:nvSpPr>
          <p:cNvPr id="50" name="Text 48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Key insight: these systems are themselves vibe-coded — AI agents helping build the next generation of AI agents.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A2850"/>
          </a:solidFill>
          <a:ln w="12700">
            <a:solidFill>
              <a:srgbClr val="1A285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Limitations &amp; Implications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2004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⚠️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1033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Hallucinations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12893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Agents generate plausible but wrong citations, statistics, or reasoning — and sound supremely confident.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2004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20040" y="20756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🔗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91440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Error cascades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914400" y="22951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Mistakes compound in multi-agent workflows; a single wrong step can propagate silently to the final output.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20040" y="30815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🎲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914400" y="3044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Brittleness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914400" y="33009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Small prompt variations produce very different outputs, making evaluation and reproducibility difficult.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20040" y="4087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💉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914400" y="4050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Prompt injection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914400" y="43068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Malicious content in fetched web pages can hijack agent behaviour — a real security risk.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96012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663440" y="106984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💡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5257800" y="103327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Not yet independent researchers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257800" y="128930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Current agents misapply theory, reproduce training-data misconceptions. Human oversight is essential.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96596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663440" y="207568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💰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5257800" y="203911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Cost inequality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57800" y="229514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Top subscriptions now $200–$300/month; proposed PhD-level agent access at $20,000/year. Access may stratify by resource.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663440" y="297180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4663440" y="308152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🔄</a:t>
            </a:r>
            <a:endParaRPr lang="en-US" sz="2000" dirty="0"/>
          </a:p>
        </p:txBody>
      </p:sp>
      <p:sp>
        <p:nvSpPr>
          <p:cNvPr id="30" name="Text 28"/>
          <p:cNvSpPr/>
          <p:nvPr/>
        </p:nvSpPr>
        <p:spPr>
          <a:xfrm>
            <a:off x="5257800" y="304495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Open-source countervailing force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257800" y="330098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DeepSeek, Qwen, Kimi-K2 offer near-frontier performance at 1/100th the price, democratising access.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663440" y="3977640"/>
            <a:ext cx="420624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D6E4F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4663440" y="4087368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👨‍🏫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5257800" y="4050792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2850"/>
                </a:solidFill>
              </a:rPr>
              <a:t>Analogy for use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257800" y="4306824"/>
            <a:ext cx="3474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A2850"/>
                </a:solidFill>
              </a:rPr>
              <a:t>Treat agents like a team of research assistants: plan carefully, supervise execution, vet all outputs.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365760" y="4892040"/>
            <a:ext cx="84124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64748B"/>
                </a:solidFill>
              </a:rPr>
              <a:t>Despite limitations: "AI agents currently function best as research assistants rather than autonomous researchers" — Korinek (2025)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9224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Discussion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98755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29768" y="109728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155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86968" y="1097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Access &amp; Inequality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57200" y="13716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If premium subscriptions reach $20,000/year for PhD-level agents, how does this reshape academic versus industry research capacity? Who wins and loses?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20040" y="231343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9768" y="242316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9768" y="244144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2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86968" y="24231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Reliability in Practice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57200" y="26974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Korinek warns that agents 'misapply theoretical frameworks and reproduce common misconceptions.' How should we design workflows to catch these errors — especially for theory-heavy economic work?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0040" y="363931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29768" y="374904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29768" y="37673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3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86968" y="3749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Vibe Coding &amp; Skill Change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57200" y="40233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Does democratising technical implementation level the playing field, or do power users who understand the tools gain even more? What happens to the graduate student learning to code?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09160" y="98755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4818888" y="109728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111556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4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76088" y="109728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Deep Research vs. Real Research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846320" y="137160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Deep Research systems 'compile existing knowledge rather than generating novel insights.' Where exactly is the boundary? Can you imagine an agent generating a genuinely novel hypothesis?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31343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818888" y="242316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18888" y="244144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276088" y="242316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Research Integrity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269748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Gans (2025) shows that authors can manipulate AI-powered peer review via prompt injection. What are the broader implications for the integrity of our field as AI enters the review process?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709160" y="3639312"/>
            <a:ext cx="4206240" cy="1207008"/>
          </a:xfrm>
          <a:prstGeom prst="rect">
            <a:avLst/>
          </a:prstGeom>
          <a:solidFill>
            <a:srgbClr val="1E3A6E"/>
          </a:solidFill>
          <a:ln w="12700">
            <a:solidFill>
              <a:srgbClr val="4A6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818888" y="3749040"/>
            <a:ext cx="384048" cy="384048"/>
          </a:xfrm>
          <a:prstGeom prst="ellipse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18888" y="3767328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6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76088" y="3749040"/>
            <a:ext cx="3520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100" kern="0" dirty="0">
                <a:solidFill>
                  <a:srgbClr val="F59E0B"/>
                </a:solidFill>
              </a:rPr>
              <a:t>Your Own Practice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846320" y="4023360"/>
            <a:ext cx="39319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6E4F7"/>
                </a:solidFill>
              </a:rPr>
              <a:t>What is one concrete task in your current research where you could deploy an agent or vibe-coding tool this week? What would you need to verify carefully?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8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3200400"/>
            <a:ext cx="3657600" cy="3657600"/>
          </a:xfrm>
          <a:prstGeom prst="ellipse">
            <a:avLst/>
          </a:prstGeom>
          <a:solidFill>
            <a:srgbClr val="3A7BD5">
              <a:alpha val="15000"/>
            </a:srgbClr>
          </a:solidFill>
          <a:ln w="12700">
            <a:solidFill>
              <a:srgbClr val="3A7BD5">
                <a:alpha val="1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-914400"/>
            <a:ext cx="3200400" cy="3200400"/>
          </a:xfrm>
          <a:prstGeom prst="ellipse">
            <a:avLst/>
          </a:prstGeom>
          <a:solidFill>
            <a:srgbClr val="F59E0B">
              <a:alpha val="12000"/>
            </a:srgbClr>
          </a:solidFill>
          <a:ln w="12700">
            <a:solidFill>
              <a:srgbClr val="F59E0B">
                <a:alpha val="12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</a:rPr>
              <a:t>Key Takeaways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1225296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🚀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170432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8"/>
                </a:solidFill>
              </a:rPr>
              <a:t>Agentic AI is here now — not future speculation. Economists can build useful research agents today with ~300 lines of vibe-coded Python.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57200" y="1856232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984248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⚖️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97280" y="1929384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8"/>
                </a:solidFill>
              </a:rPr>
              <a:t>The analogy is a junior research assistant team: powerful, but requiring careful task design, active oversight, and rigorous output vetting.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7200" y="2615184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8640" y="2743200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📈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2688336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8"/>
                </a:solidFill>
              </a:rPr>
              <a:t>The capability spiral is real — AI helps build better AI. Expect the pace of progress to accelerate, not plateau.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57200" y="3374136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8640" y="3502152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🌍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097280" y="3447288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8"/>
                </a:solidFill>
              </a:rPr>
              <a:t>Access inequality is emerging. Open-source models (DeepSeek, Qwen) provide countervailing force, but frontier access is concentrating.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457200" y="4133088"/>
            <a:ext cx="8229600" cy="658368"/>
          </a:xfrm>
          <a:prstGeom prst="rect">
            <a:avLst/>
          </a:prstGeom>
          <a:solidFill>
            <a:srgbClr val="FFFFFF">
              <a:alpha val="10000"/>
            </a:srgbClr>
          </a:solidFill>
          <a:ln w="12700">
            <a:solidFill>
              <a:srgbClr val="CADCFC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48640" y="4261104"/>
            <a:ext cx="5029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00000"/>
                </a:solidFill>
              </a:rPr>
              <a:t>🧠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097280" y="4206240"/>
            <a:ext cx="74066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2EAF8"/>
                </a:solidFill>
              </a:rPr>
              <a:t>Human economists remain essential for: defining research questions, applying theoretical judgment, ensuring ethical rigour, interpreting societal implications.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57200" y="4892040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i="1" dirty="0">
                <a:solidFill>
                  <a:srgbClr val="8AABD6"/>
                </a:solidFill>
              </a:rPr>
              <a:t>Korinek, A. (2025). AI Agents for Economic Research. Journal of Economic Literature. · genai4econ.org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Agents for Economic Research – Reading Group</dc:title>
  <dc:subject>PptxGenJS Presentation</dc:subject>
  <dc:creator>PptxGenJS</dc:creator>
  <cp:lastModifiedBy>PptxGenJS</cp:lastModifiedBy>
  <cp:revision>1</cp:revision>
  <dcterms:created xsi:type="dcterms:W3CDTF">2026-04-13T07:05:53Z</dcterms:created>
  <dcterms:modified xsi:type="dcterms:W3CDTF">2026-04-13T07:05:53Z</dcterms:modified>
</cp:coreProperties>
</file>
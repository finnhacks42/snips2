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8FAFC"/>
                </a:solidFill>
              </a:rPr>
              <a:t>VibeThinker-3B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7C0D6"/>
                </a:solidFill>
              </a:rPr>
              <a:t>What a 3B reasoning model teaches us about benchmarks, pattern matching, and post-training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12648" y="1856232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5FA8FF">
              <a:alpha val="85000"/>
            </a:srgbClr>
          </a:solidFill>
          <a:ln w="12700">
            <a:solidFill>
              <a:srgbClr val="5FA8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9384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Data science team briefing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852928"/>
            <a:ext cx="21396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3B dense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2743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852928"/>
            <a:ext cx="24140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Verifiable math + code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285292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Post-training heavy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71800" y="3090672"/>
            <a:ext cx="3200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52160" y="3090672"/>
            <a:ext cx="36576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23960" y="685800"/>
            <a:ext cx="2788920" cy="5257800"/>
          </a:xfrm>
          <a:prstGeom prst="roundRect">
            <a:avLst>
              <a:gd name="adj" fmla="val 3934"/>
            </a:avLst>
          </a:prstGeom>
          <a:solidFill>
            <a:srgbClr val="10182E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932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Core message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52560" y="1417320"/>
            <a:ext cx="2212848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The result is impressive but narrow.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“Pattern matching” here means learning reusable solution templates, not rote memorising answers.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F8FAFC"/>
                </a:solidFill>
              </a:rPr>
              <a:t>The interesting part is the training recipe: many candidate paths, verification, reward, compression.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3504" y="63093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798"/>
                </a:solidFill>
              </a:rPr>
              <a:t>Source: VibeThinker-3B technical report, arXiv:2606.16140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performance: striking for 3B, but read the fine print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Reported scores place VibeThinker-3B in the band of much larger reasoning models on verifiable tasks.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7406640" cy="4800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33405F"/>
            </a:solidFill>
            <a:prstDash val="solid"/>
          </a:ln>
        </p:spPr>
      </p:sp>
      <p:pic>
        <p:nvPicPr>
          <p:cNvPr id="6" name="Image 0" descr="/mnt/data/fig1_bench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72389"/>
            <a:ext cx="7086600" cy="38789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1040" y="1234440"/>
            <a:ext cx="3246120" cy="4800600"/>
          </a:xfrm>
          <a:prstGeom prst="roundRect">
            <a:avLst>
              <a:gd name="adj" fmla="val 3380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Reported headline numbers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49640" y="1993392"/>
            <a:ext cx="260604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8FAFC"/>
                </a:solidFill>
              </a:rPr>
              <a:t>AIME26: 94.3; 97.1 with CLR.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8FAFC"/>
                </a:solidFill>
              </a:rPr>
              <a:t>LiveCodeBench v6: 80.2 Pass@1.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8FAFC"/>
                </a:solidFill>
              </a:rPr>
              <a:t>Unseen LeetCode contests: 123/128 first-attempt Python submissions.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8FAFC"/>
                </a:solidFill>
              </a:rPr>
              <a:t>GPQA-Diamond remains weaker than large models.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8549640" y="4572000"/>
            <a:ext cx="2606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B7C0D6"/>
                </a:solidFill>
              </a:rPr>
              <a:t>Interpretation: these are mostly tasks with crisp external checking - exact answer, test suite, or rule verifier.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C7798"/>
                </a:solidFill>
              </a:rPr>
              <a:t>Figure cropped from Xu et al. (2026), Figure 1. CLR = claim-level reliability assessment.</a:t>
            </a:r>
            <a:endParaRPr lang="en-US" sz="7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reaction: “is this reasoning, or just pattern matching?”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A useful criticism - but the phrase needs unpacking.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10561320" cy="2788920"/>
          </a:xfrm>
          <a:prstGeom prst="roundRect">
            <a:avLst>
              <a:gd name="adj" fmla="val 3934"/>
            </a:avLst>
          </a:prstGeom>
          <a:solidFill>
            <a:srgbClr val="111827"/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916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8FAFC"/>
                </a:solidFill>
              </a:rPr>
              <a:t>“Push it into deeper, unfamiliar, or messy questions, and it COLLAPSES because it only knows how to match the nearest pattern...”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2144" y="3154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0D6"/>
                </a:solidFill>
              </a:rPr>
              <a:t>- Reddit / r/LocalLLaMA discussion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466344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477316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Narrow domain match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466344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477316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Messy prompts fail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66344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8512" y="4773168"/>
            <a:ext cx="23225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Benchmark debate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5010912"/>
            <a:ext cx="114300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60920" y="5010912"/>
            <a:ext cx="114300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C7798"/>
                </a:solidFill>
              </a:rPr>
              <a:t>Quote from public discussion; used here as the starting point for unpacking what “pattern matching” means.</a:t>
            </a:r>
            <a:endParaRPr lang="en-US" sz="7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matching is not memorising benchmark answers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In this context, it means mapping a new problem onto a learned family of solution procedures.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0" y="132588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132588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57"/>
                </a:solidFill>
              </a:rPr>
              <a:t>Bad interpretation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2514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“It saw this exact problem.”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Leakage, memorisation, contamination.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Possible in any benchmark, but not the whole story.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08B"/>
                </a:solidFill>
              </a:rPr>
              <a:t>Better interpretation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2057400"/>
            <a:ext cx="2514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“This looks like a known template.”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Choose variables, invariants, proof move, algorithm pattern.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Then execute and verify.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410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A8FF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41080" y="2057400"/>
            <a:ext cx="2514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Verifiable benchmarks reward template recognition plus careful execution.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</a:rPr>
              <a:t>Real work punishes brittle template choice and hidden assumptions.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98932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C0D6"/>
                </a:solidFill>
              </a:rPr>
              <a:t>Same idea as human contest prep: learn problem families, not answer keys.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math benchmarks often reward “recognise the move”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Representative toy examples, not copied benchmark questions.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10182E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Prompt shape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52628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“Given integers satisfying a modular constraint, find the number of possible residues / arrangements / triples.”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5FA8FF">
              <a:alpha val="85000"/>
            </a:srgbClr>
          </a:solidFill>
          <a:ln w="12700">
            <a:solidFill>
              <a:srgbClr val="5FA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3502152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Counting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3429000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4FD08B">
              <a:alpha val="85000"/>
            </a:srgbClr>
          </a:solidFill>
          <a:ln w="12700">
            <a:solidFill>
              <a:srgbClr val="4FD08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1992" y="350215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Modular arithmetic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069080" y="342900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2232" y="3502152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Invariants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32588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600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Likely learned template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12280" y="214884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5FA8FF">
              <a:alpha val="92000"/>
            </a:srgbClr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85432" y="2258568"/>
            <a:ext cx="3511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Translate words to constraints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41080" y="2697480"/>
            <a:ext cx="0" cy="27432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301752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85432" y="3127248"/>
            <a:ext cx="3511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Find invariant / symmetry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41080" y="3566160"/>
            <a:ext cx="0" cy="27432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12280" y="388620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3995928"/>
            <a:ext cx="3511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Count cases; check boundary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41080" y="4434840"/>
            <a:ext cx="0" cy="27432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812280" y="475488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4864608"/>
            <a:ext cx="3511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Return exact answer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C7798"/>
                </a:solidFill>
              </a:rPr>
              <a:t>The “pattern” is a reusable problem-solving scaffold: parse constraints, select invariant, enumerate safely.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coding benchmarks reward algorithm-template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The model does not need to remember the contest problem if it recognises the skeleton.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10182E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Prompt shape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2976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8FAFC"/>
                </a:solidFill>
              </a:rPr>
              <a:t>“You are given an array and many queries. Each query asks for the best value over a changing interval under constraints.”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3429000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5FA8FF">
              <a:alpha val="85000"/>
            </a:srgbClr>
          </a:solidFill>
          <a:ln w="12700">
            <a:solidFill>
              <a:srgbClr val="5FA8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5021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Range queries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342900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4FD08B">
              <a:alpha val="85000"/>
            </a:srgbClr>
          </a:solidFill>
          <a:ln w="12700">
            <a:solidFill>
              <a:srgbClr val="4FD08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9192" y="350215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Greedy / DP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0" y="342900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A78BFA">
              <a:alpha val="85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350215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AFC"/>
                </a:solidFill>
              </a:rPr>
              <a:t>Data structures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0" y="1234440"/>
            <a:ext cx="5166360" cy="4663440"/>
          </a:xfrm>
          <a:prstGeom prst="roundRect">
            <a:avLst>
              <a:gd name="adj" fmla="val 2353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Template recognition loop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20574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5FA8FF">
              <a:alpha val="92000"/>
            </a:srgbClr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216712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Read constraints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89720" y="20574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216712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Infer complexity target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58200" y="2304288"/>
            <a:ext cx="68580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720840" y="31089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321868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Choose known pattern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89720" y="31089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872" y="321868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Generate implementation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58200" y="3355848"/>
            <a:ext cx="68580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55280" y="425196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8C14A">
              <a:alpha val="92000"/>
            </a:srgbClr>
          </a:solidFill>
          <a:ln w="12700">
            <a:solidFill>
              <a:srgbClr val="F8C1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4361688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Self-check on samples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012680" y="3639312"/>
            <a:ext cx="-685800" cy="59436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43800" y="3639312"/>
            <a:ext cx="914400" cy="59436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C7798"/>
                </a:solidFill>
              </a:rPr>
              <a:t>LiveCodeBench-style tasks have an executable verifier. That strongly favours models trained to iterate toward code that passes tests.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benchmarks differ from real coding and math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Benchmarks are clean, closed, and verifiable. Work is often ambiguous, open, and socially constrained.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1325880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08B"/>
                </a:solidFill>
              </a:rPr>
              <a:t>Benchmark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48056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Complete statement.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Hidden tests or exact answer.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Few required facts outside the problem.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One-shot success metric.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Failure is easy to score.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57"/>
                </a:solidFill>
              </a:rPr>
              <a:t>Real task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48056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Messy requirements and missing context.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Partial, shifting, or no oracle.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Needs repo, domain, stakeholder knowledge.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Iterative debugging and trade-offs.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Failure can look plausible.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6080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C0D6"/>
                </a:solidFill>
              </a:rPr>
              <a:t>Evaluation gap: a model can be frontier on verifiable reasoning and still brittle as an autonomous analyst or engineer.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intuition: turn a base coder into a reasoning specialist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The paper is mostly a post-training story, not a new pretraining story.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835640" cy="4023360"/>
          </a:xfrm>
          <a:prstGeom prst="roundRect">
            <a:avLst>
              <a:gd name="adj" fmla="val 2727"/>
            </a:avLst>
          </a:prstGeom>
          <a:solidFill>
            <a:srgbClr val="10182E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3383280"/>
            <a:ext cx="109728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3383280"/>
            <a:ext cx="105156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0" y="3383280"/>
            <a:ext cx="105156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829800" y="3383280"/>
            <a:ext cx="7772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288036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6C7798">
              <a:alpha val="92000"/>
            </a:srgbClr>
          </a:solidFill>
          <a:ln w="12700">
            <a:solidFill>
              <a:srgbClr val="6C77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990088"/>
            <a:ext cx="1042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Base 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3B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288036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5FA8FF">
              <a:alpha val="92000"/>
            </a:srgbClr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2990088"/>
            <a:ext cx="1408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Show many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worked paths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06440" y="288036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2990088"/>
            <a:ext cx="14081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Reward correct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verifiable outputs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2880360"/>
            <a:ext cx="1417320" cy="1005840"/>
          </a:xfrm>
          <a:prstGeom prst="roundRect">
            <a:avLst>
              <a:gd name="adj" fmla="val 9091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990088"/>
            <a:ext cx="1271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Compress best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behaviours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61320" y="2880360"/>
            <a:ext cx="777240" cy="1005840"/>
          </a:xfrm>
          <a:prstGeom prst="roundRect">
            <a:avLst>
              <a:gd name="adj" fmla="val 11765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34472" y="2990088"/>
            <a:ext cx="6309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Follow instructions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reliably</a:t>
            </a:r>
            <a:endParaRPr lang="en-US" sz="1100" dirty="0"/>
          </a:p>
        </p:txBody>
      </p:sp>
      <p:pic>
        <p:nvPicPr>
          <p:cNvPr id="20" name="Image 0" descr="/mnt/data/fig3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0490" y="1572768"/>
            <a:ext cx="4320540" cy="1234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C7798"/>
                </a:solidFill>
              </a:rPr>
              <a:t>Original pipeline figure shown at top. The rest of the deck translates the stages into intuition.</a:t>
            </a:r>
            <a:endParaRPr lang="en-US" sz="7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build a broad library of problem-solving routes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Start with high-confidence seeds, expand them, then keep only traces that survive checks.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5FA8FF">
              <a:alpha val="92000"/>
            </a:srgbClr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38528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Seed tasks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known answers/tests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194560"/>
            <a:ext cx="10058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18288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193852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Rewrite across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concepts &amp; constraints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2194560"/>
            <a:ext cx="10058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182880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1152" y="193852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Teacher models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propose many paths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2194560"/>
            <a:ext cx="10058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66960" y="182880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40112" y="193852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Filter: answer,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execution, overlap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05840" y="3703320"/>
            <a:ext cx="10058400" cy="1554480"/>
          </a:xfrm>
          <a:prstGeom prst="roundRect">
            <a:avLst>
              <a:gd name="adj" fmla="val 7059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Intuition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39776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Do not teach one canonical solution. Teach a cloud of valid routes so later reinforcement learning has somewhere useful to explore.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C7798"/>
                </a:solidFill>
              </a:rPr>
              <a:t>Paper details: query expansion, multi-path reasoning distillation, n-gram contamination filtering, LLM filtering, answer/execution checks.</a:t>
            </a:r>
            <a:endParaRPr lang="en-US" sz="7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curriculum - easy breadth first, then long hard reasoning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The model first learns the map, then practices the mountains.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983480" cy="4389120"/>
          </a:xfrm>
          <a:prstGeom prst="roundRect">
            <a:avLst>
              <a:gd name="adj" fmla="val 2500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463040"/>
            <a:ext cx="4983480" cy="4389120"/>
          </a:xfrm>
          <a:prstGeom prst="roundRect">
            <a:avLst>
              <a:gd name="adj" fmla="val 2500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A8FF"/>
                </a:solidFill>
              </a:rPr>
              <a:t>Broad coverage cold start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393192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Math, code, STEM, chat, instruction following.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Diverse chain lengths and domains.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Goal: stable behaviour and many solution families.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7208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57"/>
                </a:solidFill>
              </a:rPr>
              <a:t>Hard-reasoning focus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20840" y="2240280"/>
            <a:ext cx="393192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Keep long traces and difficult problems.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Drop problems the smaller reference model usually solves.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F8FAFC"/>
                </a:solidFill>
              </a:rPr>
              <a:t>Goal: long-horizon derivation and constraint handling.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715000" y="3703320"/>
            <a:ext cx="68580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practice with a judge - reward what can be verified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This is why verifiable tasks matter: you can grade lots of attempts cheaply and consistently.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10744200" cy="4572000"/>
          </a:xfrm>
          <a:prstGeom prst="roundRect">
            <a:avLst>
              <a:gd name="adj" fmla="val 2400"/>
            </a:avLst>
          </a:prstGeom>
          <a:solidFill>
            <a:srgbClr val="10182E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03120"/>
            <a:ext cx="1874520" cy="731520"/>
          </a:xfrm>
          <a:prstGeom prst="roundRect">
            <a:avLst>
              <a:gd name="adj" fmla="val 12500"/>
            </a:avLst>
          </a:prstGeom>
          <a:solidFill>
            <a:srgbClr val="5FA8FF">
              <a:alpha val="92000"/>
            </a:srgbClr>
          </a:solidFill>
          <a:ln w="12700">
            <a:solidFill>
              <a:srgbClr val="5F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2212848"/>
            <a:ext cx="1728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Sample multiple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solutions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2468880"/>
            <a:ext cx="10058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069080" y="210312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4FD08B">
              <a:alpha val="92000"/>
            </a:srgbClr>
          </a:solidFill>
          <a:ln w="12700">
            <a:solidFill>
              <a:srgbClr val="4FD0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42232" y="221284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Run 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answer/tests/rubric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100584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2103120"/>
            <a:ext cx="2057400" cy="731520"/>
          </a:xfrm>
          <a:prstGeom prst="roundRect">
            <a:avLst>
              <a:gd name="adj" fmla="val 12500"/>
            </a:avLst>
          </a:prstGeom>
          <a:solidFill>
            <a:srgbClr val="A78BFA">
              <a:alpha val="9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6912" y="221284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Increase likelihood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of good attempts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0" y="2468880"/>
            <a:ext cx="960120" cy="0"/>
          </a:xfrm>
          <a:prstGeom prst="line">
            <a:avLst/>
          </a:prstGeom>
          <a:noFill/>
          <a:ln w="12700">
            <a:solidFill>
              <a:srgbClr val="B7C0D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287000" y="2103120"/>
            <a:ext cx="868680" cy="731520"/>
          </a:xfrm>
          <a:prstGeom prst="roundRect">
            <a:avLst>
              <a:gd name="adj" fmla="val 12500"/>
            </a:avLst>
          </a:prstGeom>
          <a:solidFill>
            <a:srgbClr val="FF6B57">
              <a:alpha val="92000"/>
            </a:srgbClr>
          </a:solidFill>
          <a:ln w="12700">
            <a:solidFill>
              <a:srgbClr val="FF6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0152" y="2212848"/>
            <a:ext cx="722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Repeat by domain: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8FAFC"/>
                </a:solidFill>
              </a:rPr>
              <a:t>math → code → STEM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2834640"/>
            <a:ext cx="0" cy="141732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2834640"/>
            <a:ext cx="0" cy="141732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2834640"/>
            <a:ext cx="0" cy="141732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D6"/>
                </a:solidFill>
              </a:rPr>
              <a:t>Many attempts create variation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D6"/>
                </a:solidFill>
              </a:rPr>
              <a:t>Verifier creates signal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69480" y="4434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7C0D6"/>
                </a:solidFill>
              </a:rPr>
              <a:t>Training amplifies signal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3492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7C0D6"/>
                </a:solidFill>
              </a:rPr>
              <a:t>Key intuition: the model is shaped by the distribution of problems and the verifier. Strong benchmark results can follow when the deployment task looks like that training loop.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Stages 4-5: compress, shorten, and align the specialist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7C0D6"/>
                </a:solidFill>
              </a:rPr>
              <a:t>Final stages make the behaviour cheaper, more consistent, and easier to prompt.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33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32588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132588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16203A"/>
          </a:solidFill>
          <a:ln w="12700">
            <a:solidFill>
              <a:srgbClr val="3340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Self-distil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Keep high-quality RL trajectories.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Train the final model to internalise them.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Unify math, code, and STEM behaviour.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470916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C14A"/>
                </a:solidFill>
              </a:rPr>
              <a:t>Shorten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103120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Reward correct but less wasteful reasoning.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Avoid long meandering traces.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Improve latency and usability.</a:t>
            </a:r>
            <a:endParaRPr lang="en-US" sz="1370" dirty="0"/>
          </a:p>
        </p:txBody>
      </p:sp>
      <p:sp>
        <p:nvSpPr>
          <p:cNvPr id="12" name="Text 10"/>
          <p:cNvSpPr/>
          <p:nvPr/>
        </p:nvSpPr>
        <p:spPr>
          <a:xfrm>
            <a:off x="836676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57"/>
                </a:solidFill>
              </a:rPr>
              <a:t>Instruction-align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103120"/>
            <a:ext cx="27432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Use rule checks and rubrics.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Handle constraint-heavy prompts.</a:t>
            </a:r>
            <a:endParaRPr lang="en-US" sz="1370" dirty="0"/>
          </a:p>
          <a:p>
            <a:pPr marL="152400" indent="-152400">
              <a:buSzPct val="100000"/>
              <a:buChar char="•"/>
            </a:pPr>
            <a:r>
              <a:rPr lang="en-US" sz="1370" dirty="0">
                <a:solidFill>
                  <a:srgbClr val="F8FAFC"/>
                </a:solidFill>
              </a:rPr>
              <a:t>Reduce loss of controllability.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914400" y="608076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Practical takeaway for us: evaluate on our own messy-but-verifiable tasks before assuming benchmark reasoning transfers.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VibeThinker-3B: small-model verifiable reasoning</dc:title>
  <dc:subject>VibeThinker-3B post-training overview</dc:subject>
  <dc:creator>OpenAI</dc:creator>
  <cp:lastModifiedBy>OpenAI</cp:lastModifiedBy>
  <cp:revision>1</cp:revision>
  <dcterms:created xsi:type="dcterms:W3CDTF">2026-07-01T02:51:13Z</dcterms:created>
  <dcterms:modified xsi:type="dcterms:W3CDTF">2026-07-01T02:51:13Z</dcterms:modified>
</cp:coreProperties>
</file>
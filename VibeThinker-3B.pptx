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VibeThinker-3B (3B)</c:v>
                </c:pt>
              </c:strCache>
            </c:strRef>
          </c:tx>
          <c:spPr>
            <a:solidFill>
              <a:srgbClr val="E098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AIME26 (math)</c:v>
                  </c:pt>
                  <c:pt idx="1">
                    <c:v>LiveCodeBench v6 (code)</c:v>
                  </c:pt>
                  <c:pt idx="2">
                    <c:v>IMO-AnswerBench</c:v>
                  </c:pt>
                  <c:pt idx="3">
                    <c:v>GPQA-Diamond (knowledge)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94.3</c:v>
                </c:pt>
                <c:pt idx="1">
                  <c:v>80.2</c:v>
                </c:pt>
                <c:pt idx="2">
                  <c:v>76.4</c:v>
                </c:pt>
                <c:pt idx="3">
                  <c:v>70.2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 V3.2 (671B)</c:v>
                </c:pt>
              </c:strCache>
            </c:strRef>
          </c:tx>
          <c:spPr>
            <a:solidFill>
              <a:srgbClr val="3E6E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AIME26 (math)</c:v>
                  </c:pt>
                  <c:pt idx="1">
                    <c:v>LiveCodeBench v6 (code)</c:v>
                  </c:pt>
                  <c:pt idx="2">
                    <c:v>IMO-AnswerBench</c:v>
                  </c:pt>
                  <c:pt idx="3">
                    <c:v>GPQA-Diamond (knowledge)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94.2</c:v>
                </c:pt>
                <c:pt idx="1">
                  <c:v>80.8</c:v>
                </c:pt>
                <c:pt idx="2">
                  <c:v>78.3</c:v>
                </c:pt>
                <c:pt idx="3">
                  <c:v>82.4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Kimi K2.5 (1T)</c:v>
                </c:pt>
              </c:strCache>
            </c:strRef>
          </c:tx>
          <c:spPr>
            <a:solidFill>
              <a:srgbClr val="8FA9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AIME26 (math)</c:v>
                  </c:pt>
                  <c:pt idx="1">
                    <c:v>LiveCodeBench v6 (code)</c:v>
                  </c:pt>
                  <c:pt idx="2">
                    <c:v>IMO-AnswerBench</c:v>
                  </c:pt>
                  <c:pt idx="3">
                    <c:v>GPQA-Diamond (knowledge)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93.3</c:v>
                </c:pt>
                <c:pt idx="1">
                  <c:v>85</c:v>
                </c:pt>
                <c:pt idx="2">
                  <c:v>81.8</c:v>
                </c:pt>
                <c:pt idx="3">
                  <c:v>87.6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Gemini 3 Pro</c:v>
                </c:pt>
              </c:strCache>
            </c:strRef>
          </c:tx>
          <c:spPr>
            <a:solidFill>
              <a:srgbClr val="C6D2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AIME26 (math)</c:v>
                  </c:pt>
                  <c:pt idx="1">
                    <c:v>LiveCodeBench v6 (code)</c:v>
                  </c:pt>
                  <c:pt idx="2">
                    <c:v>IMO-AnswerBench</c:v>
                  </c:pt>
                  <c:pt idx="3">
                    <c:v>GPQA-Diamond (knowledge)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91.7</c:v>
                </c:pt>
                <c:pt idx="1">
                  <c:v>87.4</c:v>
                </c:pt>
                <c:pt idx="2">
                  <c:v>83.1</c:v>
                </c:pt>
                <c:pt idx="3">
                  <c:v>91.9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image" Target="../media/image-8-2.png"/><Relationship Id="rId9" Type="http://schemas.openxmlformats.org/officeDocument/2006/relationships/image" Target="../media/image-8-9.png"/><Relationship Id="rId10" Type="http://schemas.openxmlformats.org/officeDocument/2006/relationships/image" Target="../media/image-8-2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GROUP BRIEFING · POST-TRAINING &amp; SMALL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VibeThinker-3B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Frontier of Verifiable Reasoning in Small Language Models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WeiboAI (Sina Weibo)  ·  arXiv:2606.16140  ·  June 2026  ·  MIT license, open weights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7" name="Image 0" descr="icons/cube_E098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2" y="2431572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3042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3-billion-parameter dense model, post-trained (not pretrained from scratch) on top of Qwen2.5-Coder-3B.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935224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0" name="Image 1" descr="icons/chart_E0983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" y="3035076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9077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competition math and coding benchmarks it matches or beats models 100–300× larger — DeepSeek V3.2 (671B), Kimi K2.5 (1T), GLM-5 (744B).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538728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3" name="Image 2" descr="icons/compress_E098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3638580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5112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claim: “verifiable” reasoning (math, code, STEM) can be compressed into a small, reusable core — broad world knowledge still needs scale.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4142232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6" name="Image 3" descr="icons/scale_E0983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424208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it still trails larger models on open-knowledge tests. This talk covers why — and what the “just pattern matching” critique gets right and wrong.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BENCHMARKS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paper, a 3B model in the frontier tier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on four headline benchmarks — VibeThinker-3B alongside far larger frontier systems (recreated from Tables 1–2 of the technical report)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63040"/>
          <a:ext cx="84124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61772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F3F7FB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6451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test-time self-verification (“CLR”), VibeThinker-3B’s AIME26 rises to 97.1 and IMO-AnswerBench to 80.6 — but GPQA-Diamond only reaches 72.9.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counts for Gemini 3 Pro are undisclosed; shown at frontier scale for reference.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quote_st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14300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benchmarks are literal pattern matching single-file coding. It has no relation to actual coding work. I don’t know how people still don’t get this.”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22960" y="2971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@BigMoonKR on X, reacting to VibeThinker-3B’s release (via VentureBeat)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commenter summed it up in one word: “Benchmaxxing” — shorthand for models tuned to win benchmarks rather than do real work.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343400"/>
            <a:ext cx="8229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fair? To answer it, we need to unpack what “pattern matching” actually means for a model trained this way.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“PATTERN MATCHING” MEANS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Memorizing an answer vs. recognizing a template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F3F7FB"/>
          </a:solidFill>
          <a:ln/>
          <a:effectLst>
            <a:outerShdw sx="100000" sy="100000" kx="0" ky="0" algn="bl" rotWithShape="0" blurRad="101600" dist="38100" dir="5400000">
              <a:srgbClr val="0F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book_647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literally seen this exact problem and answer before, and repeats it. Breaks immediately on anything genuinely new.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15468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2461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really what’s happening here: the 2026 competition problems in these benchmarks are brand new, and near-duplicates are explicitly filtered out of training data.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132A46"/>
          </a:solidFill>
          <a:ln/>
          <a:effectLst>
            <a:outerShdw sx="100000" sy="100000" kx="0" ky="0" algn="bl" rotWithShape="0" blurRad="101600" dist="38100" dir="5400000">
              <a:srgbClr val="0F1F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600200"/>
            <a:ext cx="502920" cy="50292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3" name="Image 1" descr="icons/puzzle_E0983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173095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6276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recognition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29200" y="21945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practiced thousands of problems with the same underlying structure — different numbers, wording, constraints — and learned the general method for that structure.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0" y="3291840"/>
            <a:ext cx="3383280" cy="109728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/>
        </p:spPr>
      </p:sp>
      <p:sp>
        <p:nvSpPr>
          <p:cNvPr id="17" name="Text 13"/>
          <p:cNvSpPr/>
          <p:nvPr/>
        </p:nvSpPr>
        <p:spPr>
          <a:xfrm>
            <a:off x="5166360" y="33832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recognises “this is a counting problem” or “this is a graph search” and applies the matching strategy — this is closer to what the training pipeline targets.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4645152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BF0E2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" y="466344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a regression model that has learned a mean-reverting pattern than one that memorised every historical price series it trained on — it generalises within the pattern, not beyond it.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“PATTERN MATCHING” MEANS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taught the shape of problems, not the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F3F7FB"/>
          </a:solidFill>
          <a:ln/>
        </p:spPr>
      </p:sp>
      <p:pic>
        <p:nvPicPr>
          <p:cNvPr id="5" name="Image 0" descr="icons/random_3E6E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441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700784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a set of trustworthy seed problems, the pipeline systematically rewrites and varies them — swapping constraints, numbers and problem-solving “skeletons” — to generate a large family of structurally related problems.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59152"/>
            <a:ext cx="457200" cy="457200"/>
          </a:xfrm>
          <a:prstGeom prst="ellipse">
            <a:avLst/>
          </a:prstGeom>
          <a:solidFill>
            <a:srgbClr val="F3F7FB"/>
          </a:solidFill>
          <a:ln/>
        </p:spPr>
      </p:sp>
      <p:pic>
        <p:nvPicPr>
          <p:cNvPr id="9" name="Image 1" descr="icons/filter_3E6E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7802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decontamination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688336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benchmark problems, and close variants of them, are explicitly filtered out of the training data using text-overlap checks before training even starts.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346704"/>
            <a:ext cx="457200" cy="457200"/>
          </a:xfrm>
          <a:prstGeom prst="ellipse">
            <a:avLst/>
          </a:prstGeom>
          <a:solidFill>
            <a:srgbClr val="F3F7FB"/>
          </a:solidFill>
          <a:ln/>
        </p:spPr>
      </p:sp>
      <p:pic>
        <p:nvPicPr>
          <p:cNvPr id="13" name="Image 2" descr="icons/shapes_3E6E9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46557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3192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solution paths per problem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367588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one fixed method, the model is shown several different valid ways to solve each training problem, sampled from strong teacher models.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32A46"/>
          </a:solidFill>
          <a:ln/>
        </p:spPr>
      </p:sp>
      <p:sp>
        <p:nvSpPr>
          <p:cNvPr id="17" name="Text 12"/>
          <p:cNvSpPr/>
          <p:nvPr/>
        </p:nvSpPr>
        <p:spPr>
          <a:xfrm>
            <a:off x="594360" y="4462272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paper’s own words (paraphrased):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on verifiable tasks comes from search, constraint-checking and self-correction within a structured solution space — not from recalling facts.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“PATTERN MATCHING” MEANS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kinds of problems behind the scores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724912" cy="2880360"/>
          </a:xfrm>
          <a:prstGeom prst="roundRect">
            <a:avLst>
              <a:gd name="adj" fmla="val 2349"/>
            </a:avLst>
          </a:prstGeom>
          <a:solidFill>
            <a:srgbClr val="F3F7FB"/>
          </a:solidFill>
          <a:ln/>
          <a:effectLst>
            <a:outerShdw sx="100000" sy="100000" kx="0" ky="0" algn="bl" rotWithShape="0" blurRad="101600" dist="38100" dir="5400000">
              <a:srgbClr val="0F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6" name="Image 0" descr="icons/calculator_E098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039112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math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313432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· HMMT · BruMO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2606040"/>
            <a:ext cx="22677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self-contained puzzle with one clean numeric answer (0–999).
</a:t>
            </a:r>
            <a:endParaRPr lang="en-US" sz="9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ways can these objects be arranged under these constraints?”
</a:t>
            </a:r>
            <a:endParaRPr lang="en-US" sz="9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problem “shapes” — combinatorics, number theory, algebraic manipulation — recur every year with new numbers.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300984" y="1298448"/>
            <a:ext cx="2724912" cy="2880360"/>
          </a:xfrm>
          <a:prstGeom prst="roundRect">
            <a:avLst>
              <a:gd name="adj" fmla="val 2349"/>
            </a:avLst>
          </a:prstGeom>
          <a:solidFill>
            <a:srgbClr val="F3F7FB"/>
          </a:solidFill>
          <a:ln/>
          <a:effectLst>
            <a:outerShdw sx="100000" sy="100000" kx="0" ky="0" algn="bl" rotWithShape="0" blurRad="101600" dist="38100" dir="5400000">
              <a:srgbClr val="0F1F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9584" y="1508760"/>
            <a:ext cx="457200" cy="45720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2" name="Image 1" descr="icons/code_E0983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6276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2039112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coding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9584" y="2313432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LiveCodeBench · OJBench · LeetCode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29584" y="2606040"/>
            <a:ext cx="22677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self-contained function with a fixed input/output format.
</a:t>
            </a:r>
            <a:endParaRPr lang="en-US" sz="9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“Given an array, return the longest subsequence satisfying X.”
</a:t>
            </a:r>
            <a:endParaRPr lang="en-US" sz="9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automatically by running hidden test cases — pass or fail, no ambiguity.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6144768" y="1298448"/>
            <a:ext cx="2724912" cy="2880360"/>
          </a:xfrm>
          <a:prstGeom prst="roundRect">
            <a:avLst>
              <a:gd name="adj" fmla="val 2349"/>
            </a:avLst>
          </a:prstGeom>
          <a:solidFill>
            <a:srgbClr val="F3F7FB"/>
          </a:solidFill>
          <a:ln/>
          <a:effectLst>
            <a:outerShdw sx="100000" sy="100000" kx="0" ky="0" algn="bl" rotWithShape="0" blurRad="101600" dist="38100" dir="5400000">
              <a:srgbClr val="0F1F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73368" y="1508760"/>
            <a:ext cx="457200" cy="45720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8" name="Image 2" descr="icons/flask_E098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2763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3368" y="2039112"/>
            <a:ext cx="226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science Q&amp;A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73368" y="2313432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GPQA-Diamond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373368" y="2606040"/>
            <a:ext cx="22677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questions on physics, chemistry and biology.
</a:t>
            </a:r>
            <a:endParaRPr lang="en-US" sz="9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“Google-proof” — hard to answer just by looking it up.
</a:t>
            </a:r>
            <a:endParaRPr lang="en-US" sz="9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specialist recall plus reasoning — this is the knowledge-heavy one, and where VibeThinker’s score drops.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BF0E2"/>
          </a:solidFill>
          <a:ln/>
        </p:spPr>
      </p:sp>
      <p:sp>
        <p:nvSpPr>
          <p:cNvPr id="23" name="Text 18"/>
          <p:cNvSpPr/>
          <p:nvPr/>
        </p:nvSpPr>
        <p:spPr>
          <a:xfrm>
            <a:off x="594360" y="43708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a single, unambiguous, machine-checkable correct answer — that’s what “verifiable” means in the paper’s title.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puzzle vs. a messy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977640" cy="2880360"/>
          </a:xfrm>
          <a:prstGeom prst="roundRect">
            <a:avLst>
              <a:gd name="adj" fmla="val 2222"/>
            </a:avLst>
          </a:prstGeom>
          <a:solidFill>
            <a:srgbClr val="F3F7FB"/>
          </a:solidFill>
          <a:ln/>
          <a:effectLst>
            <a:outerShdw sx="100000" sy="100000" kx="0" ky="0" algn="bl" rotWithShape="0" blurRad="101600" dist="38100" dir="5400000">
              <a:srgbClr val="0F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information given upfront, in one self-contained prompt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function, or one numeric answer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pass/fail against a hidden, automatic checker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problem, but a familiar structure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ambiguity in what’s being asked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298448"/>
            <a:ext cx="3977640" cy="2880360"/>
          </a:xfrm>
          <a:prstGeom prst="roundRect">
            <a:avLst>
              <a:gd name="adj" fmla="val 2222"/>
            </a:avLst>
          </a:prstGeom>
          <a:solidFill>
            <a:srgbClr val="132A46"/>
          </a:solidFill>
          <a:ln/>
          <a:effectLst>
            <a:outerShdw sx="100000" sy="100000" kx="0" ky="0" algn="bl" rotWithShape="0" blurRad="101600" dist="38100" dir="5400000">
              <a:srgbClr val="0F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4630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coding &amp; analytical 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874520"/>
            <a:ext cx="3429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many files, an existing codebase, and its history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ambiguous, incomplete, or change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“Correct” is a judgment call — readability, fit, maintainability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tacit domain knowledge no benchmark encodes
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grader tells you if the answer is “right”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31596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BF0E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343400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critique has a real point, and the paper agrees with it: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benchmarks measure structured problem-solving, and deliberately exclude what makes real engineering and analysis hard — that contrast is the paper’s own thesis, not a rebuttal to it.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TRAINED ·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stages, one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architecture, no extra pretraining — everything below is post-training on top of an existing base model.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1310640" cy="2423160"/>
          </a:xfrm>
          <a:prstGeom prst="roundRect">
            <a:avLst>
              <a:gd name="adj" fmla="val 5581"/>
            </a:avLst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746760" y="2084832"/>
            <a:ext cx="548640" cy="54864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7" name="Image 0" descr="icons/cube_E098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406" y="222747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2761488"/>
            <a:ext cx="1164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3273552"/>
            <a:ext cx="112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Qwen2.5-Coder-3B</a:t>
            </a:r>
            <a:endParaRPr lang="en-US" sz="870" dirty="0"/>
          </a:p>
        </p:txBody>
      </p:sp>
      <p:pic>
        <p:nvPicPr>
          <p:cNvPr id="10" name="Image 1" descr="icons/arrow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72" y="2990088"/>
            <a:ext cx="100584" cy="1005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86128" y="1874520"/>
            <a:ext cx="1310640" cy="2423160"/>
          </a:xfrm>
          <a:prstGeom prst="roundRect">
            <a:avLst>
              <a:gd name="adj" fmla="val 5581"/>
            </a:avLst>
          </a:prstGeom>
          <a:solidFill>
            <a:srgbClr val="1B3A5C"/>
          </a:solidFill>
          <a:ln/>
        </p:spPr>
      </p:sp>
      <p:sp>
        <p:nvSpPr>
          <p:cNvPr id="12" name="Shape 8"/>
          <p:cNvSpPr/>
          <p:nvPr/>
        </p:nvSpPr>
        <p:spPr>
          <a:xfrm>
            <a:off x="2167128" y="2084832"/>
            <a:ext cx="548640" cy="54864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3" name="Image 2" descr="icons/shapes_E098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774" y="2227478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59280" y="2761488"/>
            <a:ext cx="1164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877568" y="3273552"/>
            <a:ext cx="112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many domains, many ways to solve each problem</a:t>
            </a:r>
            <a:endParaRPr lang="en-US" sz="870" dirty="0"/>
          </a:p>
        </p:txBody>
      </p:sp>
      <p:pic>
        <p:nvPicPr>
          <p:cNvPr id="16" name="Image 3" descr="icons/arrow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340" y="2990088"/>
            <a:ext cx="100584" cy="1005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206496" y="1874520"/>
            <a:ext cx="1310640" cy="2423160"/>
          </a:xfrm>
          <a:prstGeom prst="roundRect">
            <a:avLst>
              <a:gd name="adj" fmla="val 5581"/>
            </a:avLst>
          </a:prstGeom>
          <a:solidFill>
            <a:srgbClr val="1B3A5C"/>
          </a:solidFill>
          <a:ln/>
        </p:spPr>
      </p:sp>
      <p:sp>
        <p:nvSpPr>
          <p:cNvPr id="18" name="Shape 12"/>
          <p:cNvSpPr/>
          <p:nvPr/>
        </p:nvSpPr>
        <p:spPr>
          <a:xfrm>
            <a:off x="3587496" y="2084832"/>
            <a:ext cx="548640" cy="54864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9" name="Image 4" descr="icons/filter_E0983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142" y="2227478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279648" y="2761488"/>
            <a:ext cx="1164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3297936" y="3273552"/>
            <a:ext cx="112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on the hardest, longest problems</a:t>
            </a:r>
            <a:endParaRPr lang="en-US" sz="870" dirty="0"/>
          </a:p>
        </p:txBody>
      </p:sp>
      <p:pic>
        <p:nvPicPr>
          <p:cNvPr id="22" name="Image 5" descr="icons/arrow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708" y="2990088"/>
            <a:ext cx="100584" cy="10058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626864" y="1874520"/>
            <a:ext cx="1310640" cy="2423160"/>
          </a:xfrm>
          <a:prstGeom prst="roundRect">
            <a:avLst>
              <a:gd name="adj" fmla="val 5581"/>
            </a:avLst>
          </a:prstGeom>
          <a:solidFill>
            <a:srgbClr val="1B3A5C"/>
          </a:solidFill>
          <a:ln/>
        </p:spPr>
      </p:sp>
      <p:sp>
        <p:nvSpPr>
          <p:cNvPr id="24" name="Shape 16"/>
          <p:cNvSpPr/>
          <p:nvPr/>
        </p:nvSpPr>
        <p:spPr>
          <a:xfrm>
            <a:off x="5007864" y="2084832"/>
            <a:ext cx="548640" cy="54864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25" name="Image 6" descr="icons/bullseye_E0983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0510" y="2227478"/>
            <a:ext cx="263347" cy="26334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700016" y="2761488"/>
            <a:ext cx="1164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4718304" y="3273552"/>
            <a:ext cx="112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with an automatic grader</a:t>
            </a:r>
            <a:endParaRPr lang="en-US" sz="870" dirty="0"/>
          </a:p>
        </p:txBody>
      </p:sp>
      <p:pic>
        <p:nvPicPr>
          <p:cNvPr id="28" name="Image 7" descr="icons/arrow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2076" y="2990088"/>
            <a:ext cx="100584" cy="10058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047232" y="1874520"/>
            <a:ext cx="1310640" cy="2423160"/>
          </a:xfrm>
          <a:prstGeom prst="roundRect">
            <a:avLst>
              <a:gd name="adj" fmla="val 5581"/>
            </a:avLst>
          </a:prstGeom>
          <a:solidFill>
            <a:srgbClr val="1B3A5C"/>
          </a:solidFill>
          <a:ln/>
        </p:spPr>
      </p:sp>
      <p:sp>
        <p:nvSpPr>
          <p:cNvPr id="30" name="Shape 20"/>
          <p:cNvSpPr/>
          <p:nvPr/>
        </p:nvSpPr>
        <p:spPr>
          <a:xfrm>
            <a:off x="6428232" y="2084832"/>
            <a:ext cx="548640" cy="54864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31" name="Image 8" descr="icons/bolt_E0983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0878" y="2227478"/>
            <a:ext cx="263347" cy="263347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120384" y="2761488"/>
            <a:ext cx="1164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concise</a:t>
            </a:r>
            <a:endParaRPr lang="en-US" sz="1150" dirty="0"/>
          </a:p>
        </p:txBody>
      </p:sp>
      <p:sp>
        <p:nvSpPr>
          <p:cNvPr id="33" name="Text 22"/>
          <p:cNvSpPr/>
          <p:nvPr/>
        </p:nvSpPr>
        <p:spPr>
          <a:xfrm>
            <a:off x="6138672" y="3273552"/>
            <a:ext cx="112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rambling reasoning, keep it fast</a:t>
            </a:r>
            <a:endParaRPr lang="en-US" sz="870" dirty="0"/>
          </a:p>
        </p:txBody>
      </p:sp>
      <p:pic>
        <p:nvPicPr>
          <p:cNvPr id="34" name="Image 9" descr="icons/arrow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2444" y="2990088"/>
            <a:ext cx="100584" cy="100584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7467600" y="1874520"/>
            <a:ext cx="1310640" cy="2423160"/>
          </a:xfrm>
          <a:prstGeom prst="roundRect">
            <a:avLst>
              <a:gd name="adj" fmla="val 5581"/>
            </a:avLst>
          </a:prstGeom>
          <a:solidFill>
            <a:srgbClr val="1B3A5C"/>
          </a:solidFill>
          <a:ln/>
        </p:spPr>
      </p:sp>
      <p:sp>
        <p:nvSpPr>
          <p:cNvPr id="36" name="Shape 24"/>
          <p:cNvSpPr/>
          <p:nvPr/>
        </p:nvSpPr>
        <p:spPr>
          <a:xfrm>
            <a:off x="7848600" y="2084832"/>
            <a:ext cx="548640" cy="54864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37" name="Image 10" descr="icons/merge_E0983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91246" y="2227478"/>
            <a:ext cx="263347" cy="263347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540752" y="2761488"/>
            <a:ext cx="1164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polish</a:t>
            </a:r>
            <a:endParaRPr lang="en-US" sz="1150" dirty="0"/>
          </a:p>
        </p:txBody>
      </p:sp>
      <p:sp>
        <p:nvSpPr>
          <p:cNvPr id="39" name="Text 26"/>
          <p:cNvSpPr/>
          <p:nvPr/>
        </p:nvSpPr>
        <p:spPr>
          <a:xfrm>
            <a:off x="7559040" y="3273552"/>
            <a:ext cx="112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specialists, align to instructions</a:t>
            </a:r>
            <a:endParaRPr lang="en-US" sz="870" dirty="0"/>
          </a:p>
        </p:txBody>
      </p:sp>
      <p:sp>
        <p:nvSpPr>
          <p:cNvPr id="40" name="Text 27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TRAINED ·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teach many ways to solve each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892808"/>
            <a:ext cx="914400" cy="-429768"/>
          </a:xfrm>
          <a:prstGeom prst="line">
            <a:avLst/>
          </a:prstGeom>
          <a:noFill/>
          <a:ln w="15875">
            <a:solidFill>
              <a:srgbClr val="C7D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114300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9050">
            <a:solidFill>
              <a:srgbClr val="E09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43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approach</a:t>
            </a:r>
            <a:endParaRPr lang="en-US" sz="1050" dirty="0"/>
          </a:p>
        </p:txBody>
      </p:sp>
      <p:pic>
        <p:nvPicPr>
          <p:cNvPr id="9" name="Image 0" descr="icons/check_st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8016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331720" y="1892808"/>
            <a:ext cx="914400" cy="329184"/>
          </a:xfrm>
          <a:prstGeom prst="line">
            <a:avLst/>
          </a:prstGeom>
          <a:noFill/>
          <a:ln w="15875">
            <a:solidFill>
              <a:srgbClr val="C7D3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1901952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9050">
            <a:solidFill>
              <a:srgbClr val="3E6E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9000" y="190195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Casework / combinatorics</a:t>
            </a:r>
            <a:endParaRPr lang="en-US" sz="1050" dirty="0"/>
          </a:p>
        </p:txBody>
      </p:sp>
      <p:pic>
        <p:nvPicPr>
          <p:cNvPr id="13" name="Image 1" descr="icons/check_ste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39112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331720" y="1892808"/>
            <a:ext cx="914400" cy="1088136"/>
          </a:xfrm>
          <a:prstGeom prst="line">
            <a:avLst/>
          </a:prstGeom>
          <a:noFill/>
          <a:ln w="15875">
            <a:solidFill>
              <a:srgbClr val="C7D3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91840" y="2660904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9050">
            <a:solidFill>
              <a:srgbClr val="6E93B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29000" y="266090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approach</a:t>
            </a:r>
            <a:endParaRPr lang="en-US" sz="1050" dirty="0"/>
          </a:p>
        </p:txBody>
      </p:sp>
      <p:pic>
        <p:nvPicPr>
          <p:cNvPr id="17" name="Image 2" descr="icons/check_ste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98064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331720" y="1892808"/>
            <a:ext cx="914400" cy="1847088"/>
          </a:xfrm>
          <a:prstGeom prst="line">
            <a:avLst/>
          </a:prstGeom>
          <a:noFill/>
          <a:ln w="15875">
            <a:solidFill>
              <a:srgbClr val="C7D3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291840" y="3419856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3F7FB"/>
          </a:solidFill>
          <a:ln w="19050">
            <a:solidFill>
              <a:srgbClr val="9AB3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429000" y="341985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via estimation</a:t>
            </a:r>
            <a:endParaRPr lang="en-US" sz="1050" dirty="0"/>
          </a:p>
        </p:txBody>
      </p:sp>
      <p:pic>
        <p:nvPicPr>
          <p:cNvPr id="21" name="Image 3" descr="icons/check_ste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55701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29400" y="141732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 paths kept — not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to a single “best” method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434340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BF0E2"/>
          </a:solidFill>
          <a:ln/>
        </p:spPr>
      </p:sp>
      <p:sp>
        <p:nvSpPr>
          <p:cNvPr id="24" name="Text 18"/>
          <p:cNvSpPr/>
          <p:nvPr/>
        </p:nvSpPr>
        <p:spPr>
          <a:xfrm>
            <a:off x="594360" y="4370832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training several specialists — a math specialist, a code specialist, a science specialist — then blending them into one model that still remembers all their different approaches. A model with only one rigid method breaks the moment a problem doesn’t fit it.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TRAINED ·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practice, get graded, work at the edge of your 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834640" cy="2834640"/>
          </a:xfrm>
          <a:prstGeom prst="ellipse">
            <a:avLst/>
          </a:prstGeom>
          <a:solidFill>
            <a:srgbClr val="E9EE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1920240" cy="1920240"/>
          </a:xfrm>
          <a:prstGeom prst="ellipse">
            <a:avLst/>
          </a:prstGeom>
          <a:solidFill>
            <a:srgbClr val="C9D6E4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286000"/>
            <a:ext cx="1005840" cy="1005840"/>
          </a:xfrm>
          <a:prstGeom prst="ellipse">
            <a:avLst/>
          </a:prstGeom>
          <a:solidFill>
            <a:srgbClr val="E0983E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hard — almost always wrong,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(sparse signal)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easy — already mastered,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(nothing left to learn)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25146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focuses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3977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attempts each problem many times.
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checker — a worked answer for math, executed test cases for code — automatically marks each attempt right or wrong. No human grading required.
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weight goes to problems the model gets right roughly half the time — not the easy ones it already nails, not the impossible ones.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BF0E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370832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video game that adjusts difficulty to keep you challenged but not overwhelmed, or spaced repetition that focuses on the flashcards you almost know.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TRAINED ·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trim the rambling, then merge the specialists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2834640"/>
          </a:xfrm>
          <a:prstGeom prst="roundRect">
            <a:avLst>
              <a:gd name="adj" fmla="val 2258"/>
            </a:avLst>
          </a:prstGeom>
          <a:solidFill>
            <a:srgbClr val="F3F7FB"/>
          </a:solidFill>
          <a:ln/>
          <a:effectLst>
            <a:outerShdw sx="100000" sy="100000" kx="0" ky="0" algn="bl" rotWithShape="0" blurRad="101600" dist="38100" dir="5400000">
              <a:srgbClr val="0F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bolt_E098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727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the point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model reliably solves problems — often via very long reasoning — it’s nudged to prefer shorter correct answers over longer correct ones. Wrong answers aren’t touched; only correct ones get pruned for length.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teaching a student to write a clean proof instead of a stream-of-consciousness derivation.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325880"/>
            <a:ext cx="3977640" cy="2834640"/>
          </a:xfrm>
          <a:prstGeom prst="roundRect">
            <a:avLst>
              <a:gd name="adj" fmla="val 2258"/>
            </a:avLst>
          </a:prstGeom>
          <a:solidFill>
            <a:srgbClr val="132A46"/>
          </a:solidFill>
          <a:ln/>
          <a:effectLst>
            <a:outerShdw sx="100000" sy="100000" kx="0" ky="0" algn="bl" rotWithShape="0" blurRad="101600" dist="38100" dir="5400000">
              <a:srgbClr val="0F1F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53619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2" name="Image 1" descr="icons/merge_E0983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6550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5727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specialists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210312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math / code / science versions built along the way are consolidated back into one model, by having it learn from a filtered set of its own best, verified attempts.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4983480" y="33832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teaching itself using its own homework — but only the answers that were checked and marked correct.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TRAINED ·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step — and the big picture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pass trains the model to reliably follow formatting and instruction constraints — word counts, structure, tone — without eroding the reasoning gains from earlier stages.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1371600" cy="1371600"/>
          </a:xfrm>
          <a:prstGeom prst="ellipse">
            <a:avLst/>
          </a:prstGeom>
          <a:solidFill>
            <a:srgbClr val="E0983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(3B, dense)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691640"/>
            <a:ext cx="1920240" cy="192024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8" name="Image 0" descr="icons/cloud_3E6E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5582" y="2190902"/>
            <a:ext cx="921715" cy="9217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knowledge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(needs scale)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&amp; reusable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&amp; long-tail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27939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9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training process explains the pattern seen throughout this talk — strong on problems shaped like its training diet (checkable, structured), weaker on open-ended knowledge and messy real-world work. The “pattern matching” critique isn’t wrong — it’s the paper’s own point.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36676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VibeThinker-3B</dc:title>
  <dc:subject>PptxGenJS Presentation</dc:subject>
  <dc:creator>Data Science Team</dc:creator>
  <cp:lastModifiedBy>Data Science Team</cp:lastModifiedBy>
  <cp:revision>1</cp:revision>
  <dcterms:created xsi:type="dcterms:W3CDTF">2026-07-01T03:02:09Z</dcterms:created>
  <dcterms:modified xsi:type="dcterms:W3CDTF">2026-07-01T03:02:09Z</dcterms:modified>
</cp:coreProperties>
</file>